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1F2D"/>
    <a:srgbClr val="FCF7F2"/>
    <a:srgbClr val="CDCDC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331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FE566-836B-40DE-9195-91CD16E24D63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06ED-4B57-4543-A939-52F8F9ABCB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697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FE566-836B-40DE-9195-91CD16E24D63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06ED-4B57-4543-A939-52F8F9ABCB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601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FE566-836B-40DE-9195-91CD16E24D63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06ED-4B57-4543-A939-52F8F9ABCB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215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FE566-836B-40DE-9195-91CD16E24D63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06ED-4B57-4543-A939-52F8F9ABCB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856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FE566-836B-40DE-9195-91CD16E24D63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06ED-4B57-4543-A939-52F8F9ABCB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257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FE566-836B-40DE-9195-91CD16E24D63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06ED-4B57-4543-A939-52F8F9ABCB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635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FE566-836B-40DE-9195-91CD16E24D63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06ED-4B57-4543-A939-52F8F9ABCB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0546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FE566-836B-40DE-9195-91CD16E24D63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06ED-4B57-4543-A939-52F8F9ABCB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404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FE566-836B-40DE-9195-91CD16E24D63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06ED-4B57-4543-A939-52F8F9ABCB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246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FE566-836B-40DE-9195-91CD16E24D63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06ED-4B57-4543-A939-52F8F9ABCB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90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FE566-836B-40DE-9195-91CD16E24D63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06ED-4B57-4543-A939-52F8F9ABCB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792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FE566-836B-40DE-9195-91CD16E24D63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206ED-4B57-4543-A939-52F8F9ABCB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165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7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0A796-390B-7180-3679-070E4A967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D95B59ED-5152-84B5-2ADD-06988068F5BE}"/>
              </a:ext>
            </a:extLst>
          </p:cNvPr>
          <p:cNvCxnSpPr>
            <a:cxnSpLocks/>
          </p:cNvCxnSpPr>
          <p:nvPr/>
        </p:nvCxnSpPr>
        <p:spPr>
          <a:xfrm>
            <a:off x="1914420" y="10602593"/>
            <a:ext cx="9652708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48B21314-DCD6-5666-9B2E-BD3C247C0A4A}"/>
              </a:ext>
            </a:extLst>
          </p:cNvPr>
          <p:cNvCxnSpPr>
            <a:cxnSpLocks/>
          </p:cNvCxnSpPr>
          <p:nvPr/>
        </p:nvCxnSpPr>
        <p:spPr>
          <a:xfrm>
            <a:off x="1914420" y="11262993"/>
            <a:ext cx="9157408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ubtitle 2">
            <a:extLst>
              <a:ext uri="{FF2B5EF4-FFF2-40B4-BE49-F238E27FC236}">
                <a16:creationId xmlns:a16="http://schemas.microsoft.com/office/drawing/2014/main" id="{FD17E365-1109-B94C-11E9-F4DFA7DCF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259" y="-30434"/>
            <a:ext cx="21413135" cy="4721417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en-GB" dirty="0">
              <a:latin typeface="Garamond" panose="02020404030301010803" pitchFamily="18" charset="0"/>
            </a:endParaRPr>
          </a:p>
          <a:p>
            <a:pPr algn="l"/>
            <a:endParaRPr lang="en-GB" dirty="0">
              <a:latin typeface="Garamond" panose="02020404030301010803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DDAE4BB-2031-0B3F-BE41-314C63C7B494}"/>
              </a:ext>
            </a:extLst>
          </p:cNvPr>
          <p:cNvCxnSpPr>
            <a:cxnSpLocks/>
          </p:cNvCxnSpPr>
          <p:nvPr/>
        </p:nvCxnSpPr>
        <p:spPr>
          <a:xfrm>
            <a:off x="-36513" y="1461043"/>
            <a:ext cx="21401882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E2623C-33C2-3B09-7C5A-26590F313596}"/>
              </a:ext>
            </a:extLst>
          </p:cNvPr>
          <p:cNvCxnSpPr>
            <a:cxnSpLocks/>
          </p:cNvCxnSpPr>
          <p:nvPr/>
        </p:nvCxnSpPr>
        <p:spPr>
          <a:xfrm>
            <a:off x="-36513" y="2147292"/>
            <a:ext cx="21524913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EC171C-43AB-4F06-1F01-ED2FD99824D6}"/>
              </a:ext>
            </a:extLst>
          </p:cNvPr>
          <p:cNvCxnSpPr>
            <a:cxnSpLocks/>
          </p:cNvCxnSpPr>
          <p:nvPr/>
        </p:nvCxnSpPr>
        <p:spPr>
          <a:xfrm>
            <a:off x="-36513" y="2838021"/>
            <a:ext cx="21431389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DF8223-6583-FD83-909E-C2F4E6B84855}"/>
              </a:ext>
            </a:extLst>
          </p:cNvPr>
          <p:cNvCxnSpPr>
            <a:cxnSpLocks/>
          </p:cNvCxnSpPr>
          <p:nvPr/>
        </p:nvCxnSpPr>
        <p:spPr>
          <a:xfrm>
            <a:off x="-36513" y="3518443"/>
            <a:ext cx="21524913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C37459-7E71-617B-37FD-1DFB594CE24D}"/>
              </a:ext>
            </a:extLst>
          </p:cNvPr>
          <p:cNvCxnSpPr>
            <a:cxnSpLocks/>
          </p:cNvCxnSpPr>
          <p:nvPr/>
        </p:nvCxnSpPr>
        <p:spPr>
          <a:xfrm>
            <a:off x="-36513" y="4204243"/>
            <a:ext cx="21431389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AA6981-782E-6C73-B64D-337435A0E0BC}"/>
              </a:ext>
            </a:extLst>
          </p:cNvPr>
          <p:cNvCxnSpPr>
            <a:cxnSpLocks/>
          </p:cNvCxnSpPr>
          <p:nvPr/>
        </p:nvCxnSpPr>
        <p:spPr>
          <a:xfrm>
            <a:off x="0" y="7153686"/>
            <a:ext cx="21394876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499317-C2F0-700E-FCA7-6EC26A2C0D72}"/>
              </a:ext>
            </a:extLst>
          </p:cNvPr>
          <p:cNvCxnSpPr>
            <a:cxnSpLocks/>
          </p:cNvCxnSpPr>
          <p:nvPr/>
        </p:nvCxnSpPr>
        <p:spPr>
          <a:xfrm>
            <a:off x="0" y="7839935"/>
            <a:ext cx="21394876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94D717-D8B9-F415-2CE1-65E893303518}"/>
              </a:ext>
            </a:extLst>
          </p:cNvPr>
          <p:cNvCxnSpPr>
            <a:cxnSpLocks/>
          </p:cNvCxnSpPr>
          <p:nvPr/>
        </p:nvCxnSpPr>
        <p:spPr>
          <a:xfrm>
            <a:off x="0" y="8530664"/>
            <a:ext cx="21394876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9B57393-5B41-086E-7E03-32E9B86BA097}"/>
              </a:ext>
            </a:extLst>
          </p:cNvPr>
          <p:cNvCxnSpPr>
            <a:cxnSpLocks/>
          </p:cNvCxnSpPr>
          <p:nvPr/>
        </p:nvCxnSpPr>
        <p:spPr>
          <a:xfrm>
            <a:off x="0" y="9211086"/>
            <a:ext cx="21394876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BD3A41-069C-16DA-62CF-E8268D916187}"/>
              </a:ext>
            </a:extLst>
          </p:cNvPr>
          <p:cNvCxnSpPr>
            <a:cxnSpLocks/>
          </p:cNvCxnSpPr>
          <p:nvPr/>
        </p:nvCxnSpPr>
        <p:spPr>
          <a:xfrm>
            <a:off x="0" y="9896886"/>
            <a:ext cx="21394876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E042892-F077-0F7C-0B0E-D34DBAF117D7}"/>
              </a:ext>
            </a:extLst>
          </p:cNvPr>
          <p:cNvCxnSpPr>
            <a:cxnSpLocks/>
          </p:cNvCxnSpPr>
          <p:nvPr/>
        </p:nvCxnSpPr>
        <p:spPr>
          <a:xfrm>
            <a:off x="-18259" y="13017096"/>
            <a:ext cx="21413135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DBEFDCB-C814-220E-6FF6-BC9754D4D79E}"/>
              </a:ext>
            </a:extLst>
          </p:cNvPr>
          <p:cNvCxnSpPr>
            <a:cxnSpLocks/>
          </p:cNvCxnSpPr>
          <p:nvPr/>
        </p:nvCxnSpPr>
        <p:spPr>
          <a:xfrm>
            <a:off x="-18259" y="13703345"/>
            <a:ext cx="21413135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5010C3-E82A-DE82-7577-6E6560DC5A94}"/>
              </a:ext>
            </a:extLst>
          </p:cNvPr>
          <p:cNvCxnSpPr>
            <a:cxnSpLocks/>
          </p:cNvCxnSpPr>
          <p:nvPr/>
        </p:nvCxnSpPr>
        <p:spPr>
          <a:xfrm>
            <a:off x="-18259" y="14394074"/>
            <a:ext cx="21413135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C16D13B-66D7-82AF-4792-F631C41C7DAC}"/>
              </a:ext>
            </a:extLst>
          </p:cNvPr>
          <p:cNvCxnSpPr>
            <a:cxnSpLocks/>
          </p:cNvCxnSpPr>
          <p:nvPr/>
        </p:nvCxnSpPr>
        <p:spPr>
          <a:xfrm>
            <a:off x="-18259" y="15074496"/>
            <a:ext cx="21401884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DF0B65F-5782-8FF1-DA1C-31B64A20ECF9}"/>
              </a:ext>
            </a:extLst>
          </p:cNvPr>
          <p:cNvCxnSpPr>
            <a:cxnSpLocks/>
          </p:cNvCxnSpPr>
          <p:nvPr/>
        </p:nvCxnSpPr>
        <p:spPr>
          <a:xfrm>
            <a:off x="-18259" y="15760296"/>
            <a:ext cx="21413135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E20B259F-40ED-B387-3E7A-869679826F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1167" y="442547"/>
            <a:ext cx="5031805" cy="503180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F75FC43-8123-73DF-E82B-52B9084FDCD4}"/>
              </a:ext>
            </a:extLst>
          </p:cNvPr>
          <p:cNvSpPr txBox="1"/>
          <p:nvPr/>
        </p:nvSpPr>
        <p:spPr>
          <a:xfrm>
            <a:off x="2624240" y="108127"/>
            <a:ext cx="177251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b="1" dirty="0">
                <a:latin typeface="Garamond" panose="02020404030301010803" pitchFamily="18" charset="0"/>
              </a:rPr>
              <a:t>Music Machine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6137D8-5EDE-03E8-4158-B73DD6931E95}"/>
              </a:ext>
            </a:extLst>
          </p:cNvPr>
          <p:cNvSpPr txBox="1"/>
          <p:nvPr/>
        </p:nvSpPr>
        <p:spPr>
          <a:xfrm>
            <a:off x="2624240" y="2878026"/>
            <a:ext cx="17285391" cy="1498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400"/>
              </a:lnSpc>
            </a:pPr>
            <a:r>
              <a:rPr lang="en-GB" sz="5400" dirty="0">
                <a:latin typeface="Garamond" panose="02020404030301010803" pitchFamily="18" charset="0"/>
              </a:rPr>
              <a:t>Finn Cooper – Supervisor: Pete Bennett</a:t>
            </a:r>
            <a:br>
              <a:rPr lang="en-GB" sz="5400" dirty="0">
                <a:latin typeface="Garamond" panose="02020404030301010803" pitchFamily="18" charset="0"/>
              </a:rPr>
            </a:br>
            <a:r>
              <a:rPr lang="en-GB" sz="5400" dirty="0">
                <a:latin typeface="Garamond" panose="02020404030301010803" pitchFamily="18" charset="0"/>
              </a:rPr>
              <a:t>School of Computer Science, University of Bristol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81D13E7-9C95-D338-EEE3-BD19C92960A9}"/>
              </a:ext>
            </a:extLst>
          </p:cNvPr>
          <p:cNvCxnSpPr>
            <a:cxnSpLocks/>
          </p:cNvCxnSpPr>
          <p:nvPr/>
        </p:nvCxnSpPr>
        <p:spPr>
          <a:xfrm>
            <a:off x="-18259" y="20855268"/>
            <a:ext cx="21413135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D8A4922-6B10-976C-5637-C14229C90DBD}"/>
              </a:ext>
            </a:extLst>
          </p:cNvPr>
          <p:cNvCxnSpPr>
            <a:cxnSpLocks/>
          </p:cNvCxnSpPr>
          <p:nvPr/>
        </p:nvCxnSpPr>
        <p:spPr>
          <a:xfrm>
            <a:off x="-18259" y="21541517"/>
            <a:ext cx="21401884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EE2780B-66A4-D0C2-CBC9-D7361DACE8AD}"/>
              </a:ext>
            </a:extLst>
          </p:cNvPr>
          <p:cNvCxnSpPr>
            <a:cxnSpLocks/>
          </p:cNvCxnSpPr>
          <p:nvPr/>
        </p:nvCxnSpPr>
        <p:spPr>
          <a:xfrm>
            <a:off x="-18259" y="22232246"/>
            <a:ext cx="21506659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5566D59-9FD1-FC00-5714-E04E390A38CF}"/>
              </a:ext>
            </a:extLst>
          </p:cNvPr>
          <p:cNvCxnSpPr>
            <a:cxnSpLocks/>
          </p:cNvCxnSpPr>
          <p:nvPr/>
        </p:nvCxnSpPr>
        <p:spPr>
          <a:xfrm>
            <a:off x="-18259" y="22912668"/>
            <a:ext cx="21413135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E1B9394-199A-2F7B-71D3-08D954DBB745}"/>
              </a:ext>
            </a:extLst>
          </p:cNvPr>
          <p:cNvCxnSpPr>
            <a:cxnSpLocks/>
          </p:cNvCxnSpPr>
          <p:nvPr/>
        </p:nvCxnSpPr>
        <p:spPr>
          <a:xfrm>
            <a:off x="-18259" y="23598468"/>
            <a:ext cx="21413135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6F9796C-FD3F-46C4-11E9-1B6092B3DFEE}"/>
              </a:ext>
            </a:extLst>
          </p:cNvPr>
          <p:cNvCxnSpPr>
            <a:cxnSpLocks/>
          </p:cNvCxnSpPr>
          <p:nvPr/>
        </p:nvCxnSpPr>
        <p:spPr>
          <a:xfrm>
            <a:off x="-18259" y="25031411"/>
            <a:ext cx="21154827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E788C49-72EF-338E-C437-3DC7831325F0}"/>
              </a:ext>
            </a:extLst>
          </p:cNvPr>
          <p:cNvCxnSpPr>
            <a:cxnSpLocks/>
          </p:cNvCxnSpPr>
          <p:nvPr/>
        </p:nvCxnSpPr>
        <p:spPr>
          <a:xfrm>
            <a:off x="-18259" y="25717660"/>
            <a:ext cx="21154827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328E8B4-A1FB-97EA-6BEE-14FC50F12566}"/>
              </a:ext>
            </a:extLst>
          </p:cNvPr>
          <p:cNvCxnSpPr>
            <a:cxnSpLocks/>
            <a:endCxn id="138" idx="1"/>
          </p:cNvCxnSpPr>
          <p:nvPr/>
        </p:nvCxnSpPr>
        <p:spPr>
          <a:xfrm>
            <a:off x="-18259" y="26408389"/>
            <a:ext cx="21154827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A605484-95DD-288F-38F2-08E84ACD9874}"/>
              </a:ext>
            </a:extLst>
          </p:cNvPr>
          <p:cNvCxnSpPr>
            <a:cxnSpLocks/>
          </p:cNvCxnSpPr>
          <p:nvPr/>
        </p:nvCxnSpPr>
        <p:spPr>
          <a:xfrm>
            <a:off x="-18259" y="27088811"/>
            <a:ext cx="21154827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FB69C29-7ED3-8452-1B22-71495910976A}"/>
              </a:ext>
            </a:extLst>
          </p:cNvPr>
          <p:cNvCxnSpPr>
            <a:cxnSpLocks/>
          </p:cNvCxnSpPr>
          <p:nvPr/>
        </p:nvCxnSpPr>
        <p:spPr>
          <a:xfrm>
            <a:off x="-18259" y="27774611"/>
            <a:ext cx="21154827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4BBA5C3-A51F-F14E-85B9-470F98DF5F5E}"/>
              </a:ext>
            </a:extLst>
          </p:cNvPr>
          <p:cNvSpPr txBox="1"/>
          <p:nvPr/>
        </p:nvSpPr>
        <p:spPr>
          <a:xfrm>
            <a:off x="2246817" y="5268552"/>
            <a:ext cx="9380262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sz="7200" dirty="0">
                <a:latin typeface="Garamond" panose="02020404030301010803" pitchFamily="18" charset="0"/>
              </a:rPr>
              <a:t>Live Coding Performance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0CCAC5E-5FAF-51FC-C09A-16236E645C85}"/>
              </a:ext>
            </a:extLst>
          </p:cNvPr>
          <p:cNvSpPr txBox="1"/>
          <p:nvPr/>
        </p:nvSpPr>
        <p:spPr>
          <a:xfrm>
            <a:off x="12687976" y="5268615"/>
            <a:ext cx="8103490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sz="7200" dirty="0">
                <a:latin typeface="Garamond" panose="02020404030301010803" pitchFamily="18" charset="0"/>
              </a:rPr>
              <a:t>Computing Education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880BF6-FE84-1799-2445-39A96F73C121}"/>
              </a:ext>
            </a:extLst>
          </p:cNvPr>
          <p:cNvSpPr txBox="1"/>
          <p:nvPr/>
        </p:nvSpPr>
        <p:spPr>
          <a:xfrm>
            <a:off x="17023976" y="11136795"/>
            <a:ext cx="2885655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sz="7200" dirty="0">
                <a:latin typeface="Garamond" panose="02020404030301010803" pitchFamily="18" charset="0"/>
              </a:rPr>
              <a:t>Design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879578-E6A6-1C06-C996-256E96AADC98}"/>
              </a:ext>
            </a:extLst>
          </p:cNvPr>
          <p:cNvSpPr txBox="1"/>
          <p:nvPr/>
        </p:nvSpPr>
        <p:spPr>
          <a:xfrm>
            <a:off x="1420002" y="18933891"/>
            <a:ext cx="7024751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sz="7200" dirty="0">
                <a:latin typeface="Garamond" panose="02020404030301010803" pitchFamily="18" charset="0"/>
              </a:rPr>
              <a:t>Language Features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455F9C-3D46-5E10-C785-F23C8FF5465E}"/>
              </a:ext>
            </a:extLst>
          </p:cNvPr>
          <p:cNvSpPr txBox="1"/>
          <p:nvPr/>
        </p:nvSpPr>
        <p:spPr>
          <a:xfrm>
            <a:off x="9539963" y="28008884"/>
            <a:ext cx="4118887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sz="7200" dirty="0">
                <a:latin typeface="Garamond" panose="02020404030301010803" pitchFamily="18" charset="0"/>
              </a:rPr>
              <a:t>Evaluation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6933C64-0CE9-C0FA-F7D8-18D84BB5F5FA}"/>
              </a:ext>
            </a:extLst>
          </p:cNvPr>
          <p:cNvSpPr/>
          <p:nvPr/>
        </p:nvSpPr>
        <p:spPr>
          <a:xfrm>
            <a:off x="969777" y="12322801"/>
            <a:ext cx="19617910" cy="3616317"/>
          </a:xfrm>
          <a:prstGeom prst="roundRect">
            <a:avLst>
              <a:gd name="adj" fmla="val 3322"/>
            </a:avLst>
          </a:prstGeom>
          <a:solidFill>
            <a:schemeClr val="accent2">
              <a:alpha val="5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685800" indent="-685800">
              <a:lnSpc>
                <a:spcPts val="5400"/>
              </a:lnSpc>
              <a:buFont typeface="Garamond" panose="02020404030301010803" pitchFamily="18" charset="0"/>
              <a:buChar char="♪"/>
            </a:pPr>
            <a:r>
              <a:rPr lang="en-GB" sz="5400" dirty="0">
                <a:solidFill>
                  <a:schemeClr val="tx1"/>
                </a:solidFill>
                <a:latin typeface="Consolas" panose="020B0609020204030204" pitchFamily="49" charset="0"/>
              </a:rPr>
              <a:t>Custom assembly-like DSL for music sequencing.</a:t>
            </a:r>
          </a:p>
          <a:p>
            <a:pPr marL="685800" indent="-685800">
              <a:lnSpc>
                <a:spcPts val="5400"/>
              </a:lnSpc>
              <a:buFont typeface="Garamond" panose="02020404030301010803" pitchFamily="18" charset="0"/>
              <a:buChar char="♪"/>
            </a:pPr>
            <a:r>
              <a:rPr lang="en-GB" sz="5400" dirty="0">
                <a:solidFill>
                  <a:schemeClr val="tx1"/>
                </a:solidFill>
                <a:latin typeface="Consolas" panose="020B0609020204030204" pitchFamily="49" charset="0"/>
              </a:rPr>
              <a:t>Procedural / instruction-based execution model.</a:t>
            </a:r>
          </a:p>
          <a:p>
            <a:pPr marL="685800" indent="-685800">
              <a:lnSpc>
                <a:spcPts val="5400"/>
              </a:lnSpc>
              <a:buFont typeface="Garamond" panose="02020404030301010803" pitchFamily="18" charset="0"/>
              <a:buChar char="♪"/>
            </a:pPr>
            <a:r>
              <a:rPr lang="en-GB" sz="5400" dirty="0">
                <a:solidFill>
                  <a:schemeClr val="tx1"/>
                </a:solidFill>
                <a:latin typeface="Consolas" panose="020B0609020204030204" pitchFamily="49" charset="0"/>
              </a:rPr>
              <a:t>Virtual machine with memory and registers.</a:t>
            </a:r>
          </a:p>
          <a:p>
            <a:pPr marL="685800" indent="-685800">
              <a:lnSpc>
                <a:spcPts val="5400"/>
              </a:lnSpc>
              <a:buFont typeface="Garamond" panose="02020404030301010803" pitchFamily="18" charset="0"/>
              <a:buChar char="♪"/>
            </a:pPr>
            <a:r>
              <a:rPr lang="en-GB" sz="5400" dirty="0">
                <a:solidFill>
                  <a:schemeClr val="tx1"/>
                </a:solidFill>
                <a:latin typeface="Consolas" panose="020B0609020204030204" pitchFamily="49" charset="0"/>
              </a:rPr>
              <a:t>Real-time audio engine for synths and samples.</a:t>
            </a:r>
          </a:p>
          <a:p>
            <a:pPr marL="685800" indent="-685800">
              <a:lnSpc>
                <a:spcPts val="5400"/>
              </a:lnSpc>
              <a:buFont typeface="Garamond" panose="02020404030301010803" pitchFamily="18" charset="0"/>
              <a:buChar char="♪"/>
            </a:pPr>
            <a:r>
              <a:rPr lang="en-GB" sz="5400" dirty="0">
                <a:solidFill>
                  <a:schemeClr val="tx1"/>
                </a:solidFill>
                <a:latin typeface="Consolas" panose="020B0609020204030204" pitchFamily="49" charset="0"/>
              </a:rPr>
              <a:t>Bank of examples and guided tutorial.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E7E423D-0A9B-B884-5199-10C7740E4D36}"/>
              </a:ext>
            </a:extLst>
          </p:cNvPr>
          <p:cNvSpPr/>
          <p:nvPr/>
        </p:nvSpPr>
        <p:spPr>
          <a:xfrm>
            <a:off x="969775" y="20131555"/>
            <a:ext cx="13596516" cy="3616317"/>
          </a:xfrm>
          <a:prstGeom prst="roundRect">
            <a:avLst>
              <a:gd name="adj" fmla="val 3322"/>
            </a:avLst>
          </a:prstGeom>
          <a:solidFill>
            <a:schemeClr val="accent2">
              <a:alpha val="5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685800" indent="-685800">
              <a:lnSpc>
                <a:spcPts val="5400"/>
              </a:lnSpc>
              <a:buFont typeface="Garamond" panose="02020404030301010803" pitchFamily="18" charset="0"/>
              <a:buChar char="♪"/>
            </a:pPr>
            <a:r>
              <a:rPr lang="en-GB" sz="5400" dirty="0">
                <a:solidFill>
                  <a:schemeClr val="tx1"/>
                </a:solidFill>
                <a:latin typeface="Consolas" panose="020B0609020204030204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Register-based parameter control.</a:t>
            </a:r>
          </a:p>
          <a:p>
            <a:pPr marL="685800" indent="-685800">
              <a:lnSpc>
                <a:spcPts val="5400"/>
              </a:lnSpc>
              <a:buFont typeface="Garamond" panose="02020404030301010803" pitchFamily="18" charset="0"/>
              <a:buChar char="♪"/>
            </a:pPr>
            <a:r>
              <a:rPr lang="en-GB" sz="5400" dirty="0">
                <a:solidFill>
                  <a:schemeClr val="tx1"/>
                </a:solidFill>
                <a:latin typeface="Consolas" panose="020B0609020204030204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Memory-driven sequencing.</a:t>
            </a:r>
          </a:p>
          <a:p>
            <a:pPr marL="685800" indent="-685800">
              <a:lnSpc>
                <a:spcPts val="5400"/>
              </a:lnSpc>
              <a:buFont typeface="Garamond" panose="02020404030301010803" pitchFamily="18" charset="0"/>
              <a:buChar char="♪"/>
            </a:pPr>
            <a:r>
              <a:rPr lang="en-GB" sz="5400" dirty="0">
                <a:solidFill>
                  <a:schemeClr val="tx1"/>
                </a:solidFill>
                <a:latin typeface="Consolas" panose="020B0609020204030204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Looping via labels and jumps.</a:t>
            </a:r>
          </a:p>
          <a:p>
            <a:pPr marL="685800" indent="-685800">
              <a:lnSpc>
                <a:spcPts val="5400"/>
              </a:lnSpc>
              <a:buFont typeface="Garamond" panose="02020404030301010803" pitchFamily="18" charset="0"/>
              <a:buChar char="♪"/>
            </a:pPr>
            <a:r>
              <a:rPr lang="en-GB" sz="5400" dirty="0">
                <a:solidFill>
                  <a:schemeClr val="tx1"/>
                </a:solidFill>
                <a:latin typeface="Consolas" panose="020B0609020204030204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Randomness for music variation.</a:t>
            </a:r>
          </a:p>
          <a:p>
            <a:pPr marL="685800" indent="-685800">
              <a:lnSpc>
                <a:spcPts val="5400"/>
              </a:lnSpc>
              <a:buFont typeface="Garamond" panose="02020404030301010803" pitchFamily="18" charset="0"/>
              <a:buChar char="♪"/>
            </a:pPr>
            <a:r>
              <a:rPr lang="en-GB" sz="5400" dirty="0">
                <a:solidFill>
                  <a:schemeClr val="tx1"/>
                </a:solidFill>
                <a:latin typeface="Consolas" panose="020B0609020204030204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Beat-level timing instructions.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C78DFD8C-A716-2056-4699-A73E2DB547DD}"/>
              </a:ext>
            </a:extLst>
          </p:cNvPr>
          <p:cNvSpPr/>
          <p:nvPr/>
        </p:nvSpPr>
        <p:spPr>
          <a:xfrm>
            <a:off x="969776" y="24405130"/>
            <a:ext cx="13596513" cy="3577638"/>
          </a:xfrm>
          <a:prstGeom prst="roundRect">
            <a:avLst>
              <a:gd name="adj" fmla="val 3322"/>
            </a:avLst>
          </a:prstGeom>
          <a:solidFill>
            <a:schemeClr val="accent2">
              <a:alpha val="5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69" name="Picture 2">
            <a:extLst>
              <a:ext uri="{FF2B5EF4-FFF2-40B4-BE49-F238E27FC236}">
                <a16:creationId xmlns:a16="http://schemas.microsoft.com/office/drawing/2014/main" id="{E456DEF7-5F04-7A38-99F1-10FB6E6BC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43" y="28327886"/>
            <a:ext cx="4819121" cy="139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" name="Rectangle 137">
            <a:extLst>
              <a:ext uri="{FF2B5EF4-FFF2-40B4-BE49-F238E27FC236}">
                <a16:creationId xmlns:a16="http://schemas.microsoft.com/office/drawing/2014/main" id="{704E074A-C76B-F4D5-0CD4-BA932133FBEF}"/>
              </a:ext>
            </a:extLst>
          </p:cNvPr>
          <p:cNvSpPr/>
          <p:nvPr/>
        </p:nvSpPr>
        <p:spPr>
          <a:xfrm>
            <a:off x="21136568" y="24997272"/>
            <a:ext cx="258308" cy="282223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727343B-2EEA-A625-53E3-3BED2EC53179}"/>
              </a:ext>
            </a:extLst>
          </p:cNvPr>
          <p:cNvSpPr txBox="1"/>
          <p:nvPr/>
        </p:nvSpPr>
        <p:spPr>
          <a:xfrm>
            <a:off x="2605984" y="1480921"/>
            <a:ext cx="17725136" cy="1520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400"/>
              </a:lnSpc>
            </a:pPr>
            <a:r>
              <a:rPr lang="en-GB" sz="6000" b="1" dirty="0">
                <a:latin typeface="Garamond" panose="02020404030301010803" pitchFamily="18" charset="0"/>
              </a:rPr>
              <a:t>A Beginner-Friendly Live Coding Environment for Computational Music Sequencing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7BCCB5A5-27D8-E90E-9B48-F2BF912A98F5}"/>
              </a:ext>
            </a:extLst>
          </p:cNvPr>
          <p:cNvCxnSpPr/>
          <p:nvPr/>
        </p:nvCxnSpPr>
        <p:spPr>
          <a:xfrm>
            <a:off x="12295230" y="7118843"/>
            <a:ext cx="0" cy="2822234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AF6A98D1-F946-4BBC-0902-ED1FEC6A51DC}"/>
              </a:ext>
            </a:extLst>
          </p:cNvPr>
          <p:cNvCxnSpPr/>
          <p:nvPr/>
        </p:nvCxnSpPr>
        <p:spPr>
          <a:xfrm>
            <a:off x="14904476" y="20821129"/>
            <a:ext cx="0" cy="2822234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68403935-6F57-E9D6-AB90-0BE5FD5EEB0A}"/>
              </a:ext>
            </a:extLst>
          </p:cNvPr>
          <p:cNvCxnSpPr/>
          <p:nvPr/>
        </p:nvCxnSpPr>
        <p:spPr>
          <a:xfrm>
            <a:off x="21365369" y="7116897"/>
            <a:ext cx="0" cy="2822234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00184FCE-2DE3-7D45-836F-8E2C1381EC0C}"/>
              </a:ext>
            </a:extLst>
          </p:cNvPr>
          <p:cNvCxnSpPr/>
          <p:nvPr/>
        </p:nvCxnSpPr>
        <p:spPr>
          <a:xfrm>
            <a:off x="21365369" y="12982957"/>
            <a:ext cx="0" cy="2822234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921882BE-75BB-8B4D-A38E-9437125F91F5}"/>
              </a:ext>
            </a:extLst>
          </p:cNvPr>
          <p:cNvCxnSpPr/>
          <p:nvPr/>
        </p:nvCxnSpPr>
        <p:spPr>
          <a:xfrm>
            <a:off x="21365369" y="20821129"/>
            <a:ext cx="0" cy="2822234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D2CE8269-229D-6A1E-C66E-1E562BC863E8}"/>
              </a:ext>
            </a:extLst>
          </p:cNvPr>
          <p:cNvCxnSpPr/>
          <p:nvPr/>
        </p:nvCxnSpPr>
        <p:spPr>
          <a:xfrm>
            <a:off x="0" y="12982957"/>
            <a:ext cx="0" cy="2822234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CA48FDD4-F324-4A11-D42F-5B83B235530D}"/>
              </a:ext>
            </a:extLst>
          </p:cNvPr>
          <p:cNvCxnSpPr/>
          <p:nvPr/>
        </p:nvCxnSpPr>
        <p:spPr>
          <a:xfrm>
            <a:off x="0" y="20821129"/>
            <a:ext cx="0" cy="2822234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83B367EA-298C-5449-A850-C266FD8D2706}"/>
              </a:ext>
            </a:extLst>
          </p:cNvPr>
          <p:cNvCxnSpPr/>
          <p:nvPr/>
        </p:nvCxnSpPr>
        <p:spPr>
          <a:xfrm>
            <a:off x="0" y="24997272"/>
            <a:ext cx="0" cy="2822234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2D8DFDB-B128-3C35-7574-86898B7DD1AD}"/>
              </a:ext>
            </a:extLst>
          </p:cNvPr>
          <p:cNvCxnSpPr/>
          <p:nvPr/>
        </p:nvCxnSpPr>
        <p:spPr>
          <a:xfrm>
            <a:off x="12700" y="7116897"/>
            <a:ext cx="0" cy="2822234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16510A9E-9F28-3804-AB2F-D97EE13B29AC}"/>
              </a:ext>
            </a:extLst>
          </p:cNvPr>
          <p:cNvSpPr txBox="1"/>
          <p:nvPr/>
        </p:nvSpPr>
        <p:spPr>
          <a:xfrm>
            <a:off x="18160126" y="259202"/>
            <a:ext cx="31055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400" b="1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</a:rPr>
              <a:t>♪</a:t>
            </a:r>
            <a:r>
              <a:rPr lang="en-GB" sz="6400" b="1" dirty="0">
                <a:solidFill>
                  <a:schemeClr val="tx1">
                    <a:alpha val="50000"/>
                  </a:schemeClr>
                </a:solidFill>
                <a:latin typeface="Garamond" panose="02020404030301010803" pitchFamily="18" charset="0"/>
              </a:rPr>
              <a:t> = 120</a:t>
            </a:r>
            <a:endParaRPr lang="en-GB" sz="6400" b="1" dirty="0">
              <a:solidFill>
                <a:schemeClr val="tx1">
                  <a:alpha val="50000"/>
                </a:schemeClr>
              </a:solidFill>
            </a:endParaRPr>
          </a:p>
        </p:txBody>
      </p: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C3C4DE4C-FC23-586F-BEC0-81E72DFC2E69}"/>
              </a:ext>
            </a:extLst>
          </p:cNvPr>
          <p:cNvCxnSpPr/>
          <p:nvPr/>
        </p:nvCxnSpPr>
        <p:spPr>
          <a:xfrm>
            <a:off x="14882717" y="24997272"/>
            <a:ext cx="0" cy="2822234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B73DC2F5-BF90-CCF4-8D22-5BE7A8C7AEC7}"/>
              </a:ext>
            </a:extLst>
          </p:cNvPr>
          <p:cNvCxnSpPr>
            <a:cxnSpLocks/>
          </p:cNvCxnSpPr>
          <p:nvPr/>
        </p:nvCxnSpPr>
        <p:spPr>
          <a:xfrm>
            <a:off x="12687976" y="10557945"/>
            <a:ext cx="7916443" cy="0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61E2B9C-261C-5EA0-1854-8BFD42D46AFD}"/>
              </a:ext>
            </a:extLst>
          </p:cNvPr>
          <p:cNvSpPr/>
          <p:nvPr/>
        </p:nvSpPr>
        <p:spPr>
          <a:xfrm>
            <a:off x="1803522" y="6468881"/>
            <a:ext cx="10164251" cy="5104428"/>
          </a:xfrm>
          <a:prstGeom prst="roundRect">
            <a:avLst>
              <a:gd name="adj" fmla="val 3322"/>
            </a:avLst>
          </a:prstGeom>
          <a:solidFill>
            <a:schemeClr val="accent2">
              <a:alpha val="5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400" dirty="0">
                <a:solidFill>
                  <a:prstClr val="black"/>
                </a:solidFill>
                <a:latin typeface="Consolas" panose="020B0609020204030204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Live coding performances </a:t>
            </a: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often require overcoming a large syntactical hurdle. Music </a:t>
            </a:r>
            <a:r>
              <a:rPr lang="en-GB" sz="5400" dirty="0">
                <a:solidFill>
                  <a:prstClr val="black"/>
                </a:solidFill>
                <a:latin typeface="Consolas" panose="020B0609020204030204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Machine improves accessibility </a:t>
            </a: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by reducing this complexity but still allowing for expression.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7E0AB74-0276-24BF-76A1-DB04B5AD9C38}"/>
              </a:ext>
            </a:extLst>
          </p:cNvPr>
          <p:cNvSpPr/>
          <p:nvPr/>
        </p:nvSpPr>
        <p:spPr>
          <a:xfrm>
            <a:off x="12542138" y="6468944"/>
            <a:ext cx="8395166" cy="4255572"/>
          </a:xfrm>
          <a:prstGeom prst="roundRect">
            <a:avLst>
              <a:gd name="adj" fmla="val 3322"/>
            </a:avLst>
          </a:prstGeom>
          <a:solidFill>
            <a:schemeClr val="accent2">
              <a:alpha val="50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Teaching programming via music composition increases student engagement, encouraging fun and interactive learning.</a:t>
            </a:r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F27F1D14-BE2F-9289-E02B-CD07B57C788B}"/>
              </a:ext>
            </a:extLst>
          </p:cNvPr>
          <p:cNvCxnSpPr/>
          <p:nvPr/>
        </p:nvCxnSpPr>
        <p:spPr>
          <a:xfrm>
            <a:off x="21365369" y="1426904"/>
            <a:ext cx="0" cy="2822234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84BD7F9B-FD16-0052-448B-4DFF749D4371}"/>
              </a:ext>
            </a:extLst>
          </p:cNvPr>
          <p:cNvCxnSpPr/>
          <p:nvPr/>
        </p:nvCxnSpPr>
        <p:spPr>
          <a:xfrm>
            <a:off x="12700" y="1426904"/>
            <a:ext cx="0" cy="2822234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TextBox 224">
            <a:extLst>
              <a:ext uri="{FF2B5EF4-FFF2-40B4-BE49-F238E27FC236}">
                <a16:creationId xmlns:a16="http://schemas.microsoft.com/office/drawing/2014/main" id="{F80A30C1-92DB-4B73-17C7-42D63C037439}"/>
              </a:ext>
            </a:extLst>
          </p:cNvPr>
          <p:cNvSpPr txBox="1"/>
          <p:nvPr/>
        </p:nvSpPr>
        <p:spPr>
          <a:xfrm rot="20935282">
            <a:off x="19070182" y="907849"/>
            <a:ext cx="287094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600" b="1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</a:rPr>
              <a:t>♫</a:t>
            </a:r>
            <a:endParaRPr lang="en-GB" sz="25600" dirty="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1F7CB9D4-7960-7572-67EA-3A25D9D2319E}"/>
              </a:ext>
            </a:extLst>
          </p:cNvPr>
          <p:cNvSpPr txBox="1"/>
          <p:nvPr/>
        </p:nvSpPr>
        <p:spPr>
          <a:xfrm>
            <a:off x="17272853" y="1343908"/>
            <a:ext cx="202897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600" b="1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</a:rPr>
              <a:t>♪</a:t>
            </a:r>
            <a:endParaRPr lang="en-GB" sz="25600" dirty="0">
              <a:latin typeface="Consolas" panose="020B0609020204030204" pitchFamily="49" charset="0"/>
            </a:endParaRPr>
          </a:p>
        </p:txBody>
      </p: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843E3E5B-630A-81A0-5129-B554EFF861A2}"/>
              </a:ext>
            </a:extLst>
          </p:cNvPr>
          <p:cNvCxnSpPr/>
          <p:nvPr/>
        </p:nvCxnSpPr>
        <p:spPr>
          <a:xfrm>
            <a:off x="20937304" y="24997272"/>
            <a:ext cx="0" cy="2822234"/>
          </a:xfrm>
          <a:prstGeom prst="line">
            <a:avLst/>
          </a:prstGeom>
          <a:ln w="762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Oval 226">
            <a:extLst>
              <a:ext uri="{FF2B5EF4-FFF2-40B4-BE49-F238E27FC236}">
                <a16:creationId xmlns:a16="http://schemas.microsoft.com/office/drawing/2014/main" id="{413FC436-1BD0-6619-7D9A-E0FFBEE1EDF6}"/>
              </a:ext>
            </a:extLst>
          </p:cNvPr>
          <p:cNvSpPr/>
          <p:nvPr/>
        </p:nvSpPr>
        <p:spPr>
          <a:xfrm>
            <a:off x="20505655" y="25911256"/>
            <a:ext cx="254000" cy="254000"/>
          </a:xfrm>
          <a:prstGeom prst="ellipse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FAF5E8FF-ADA7-B330-D0E6-BEFE8C18A601}"/>
              </a:ext>
            </a:extLst>
          </p:cNvPr>
          <p:cNvSpPr/>
          <p:nvPr/>
        </p:nvSpPr>
        <p:spPr>
          <a:xfrm>
            <a:off x="20505655" y="26601984"/>
            <a:ext cx="254000" cy="254000"/>
          </a:xfrm>
          <a:prstGeom prst="ellipse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5C138A61-55EA-7A99-CBB9-7C7F6556C67B}"/>
              </a:ext>
            </a:extLst>
          </p:cNvPr>
          <p:cNvSpPr/>
          <p:nvPr/>
        </p:nvSpPr>
        <p:spPr>
          <a:xfrm>
            <a:off x="17313184" y="25760487"/>
            <a:ext cx="1193654" cy="236913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99666D6-24F4-279E-2FE4-B983A5C1F41A}"/>
              </a:ext>
            </a:extLst>
          </p:cNvPr>
          <p:cNvSpPr txBox="1"/>
          <p:nvPr/>
        </p:nvSpPr>
        <p:spPr>
          <a:xfrm>
            <a:off x="194324" y="7515987"/>
            <a:ext cx="888995" cy="2912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000"/>
              </a:lnSpc>
            </a:pPr>
            <a:r>
              <a:rPr lang="en-GB" sz="16000" b="1" dirty="0">
                <a:solidFill>
                  <a:schemeClr val="tx1">
                    <a:alpha val="50000"/>
                  </a:schemeClr>
                </a:solidFill>
                <a:latin typeface="Garamond" panose="02020404030301010803" pitchFamily="18" charset="0"/>
              </a:rPr>
              <a:t>4</a:t>
            </a:r>
          </a:p>
          <a:p>
            <a:pPr>
              <a:lnSpc>
                <a:spcPts val="10000"/>
              </a:lnSpc>
            </a:pPr>
            <a:r>
              <a:rPr lang="en-GB" sz="16000" b="1" dirty="0">
                <a:solidFill>
                  <a:schemeClr val="tx1">
                    <a:alpha val="50000"/>
                  </a:schemeClr>
                </a:solidFill>
                <a:latin typeface="Garamond" panose="02020404030301010803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90830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463EEB3242674FBA148BAE18702F42" ma:contentTypeVersion="10" ma:contentTypeDescription="Create a new document." ma:contentTypeScope="" ma:versionID="994d546d850585a9dce1ef5d1be379a2">
  <xsd:schema xmlns:xsd="http://www.w3.org/2001/XMLSchema" xmlns:xs="http://www.w3.org/2001/XMLSchema" xmlns:p="http://schemas.microsoft.com/office/2006/metadata/properties" xmlns:ns2="a71c9461-b54c-42d1-8ac9-35f7214125b7" xmlns:ns3="7ace7aa7-ab82-44d3-a1ba-d9b83b0ee729" targetNamespace="http://schemas.microsoft.com/office/2006/metadata/properties" ma:root="true" ma:fieldsID="5c0928a42705cbd9361a2a83fea200fb" ns2:_="" ns3:_="">
    <xsd:import namespace="a71c9461-b54c-42d1-8ac9-35f7214125b7"/>
    <xsd:import namespace="7ace7aa7-ab82-44d3-a1ba-d9b83b0ee7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c9461-b54c-42d1-8ac9-35f7214125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ce7aa7-ab82-44d3-a1ba-d9b83b0ee72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66e3f08-a912-48de-805c-e83c2a9f387f}" ma:internalName="TaxCatchAll" ma:showField="CatchAllData" ma:web="7ace7aa7-ab82-44d3-a1ba-d9b83b0ee7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71c9461-b54c-42d1-8ac9-35f7214125b7">
      <Terms xmlns="http://schemas.microsoft.com/office/infopath/2007/PartnerControls"/>
    </lcf76f155ced4ddcb4097134ff3c332f>
    <TaxCatchAll xmlns="7ace7aa7-ab82-44d3-a1ba-d9b83b0ee729" xsi:nil="true"/>
  </documentManagement>
</p:properties>
</file>

<file path=customXml/itemProps1.xml><?xml version="1.0" encoding="utf-8"?>
<ds:datastoreItem xmlns:ds="http://schemas.openxmlformats.org/officeDocument/2006/customXml" ds:itemID="{454CE6A9-F5AF-4321-AD5E-CC692C682CCC}">
  <ds:schemaRefs>
    <ds:schemaRef ds:uri="7ace7aa7-ab82-44d3-a1ba-d9b83b0ee729"/>
    <ds:schemaRef ds:uri="a71c9461-b54c-42d1-8ac9-35f7214125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3C30AD6-0436-4657-873B-BB193B5FD4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6D90F4-7C2C-4F30-BECD-B702F0D24205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7ace7aa7-ab82-44d3-a1ba-d9b83b0ee729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a71c9461-b54c-42d1-8ac9-35f7214125b7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835</TotalTime>
  <Words>140</Words>
  <Application>Microsoft Office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Garamond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Connolly</dc:creator>
  <cp:lastModifiedBy>Finn Cooper</cp:lastModifiedBy>
  <cp:revision>244</cp:revision>
  <cp:lastPrinted>2026-03-23T12:05:02Z</cp:lastPrinted>
  <dcterms:created xsi:type="dcterms:W3CDTF">2024-03-02T10:22:38Z</dcterms:created>
  <dcterms:modified xsi:type="dcterms:W3CDTF">2026-03-23T13:30:42Z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0x01010066463EEB3242674FBA148BAE18702F42</vt:lpwstr>
  </property>
  <property fmtid="{D5CDD505-2E9C-101B-9397-08002B2CF9AE}" pid="3" name="xd_ProgID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TemplateUrl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